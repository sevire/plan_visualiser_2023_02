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4653"/>
    <a:srgbClr val="F37E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/>
    <p:restoredTop sz="94694"/>
  </p:normalViewPr>
  <p:slideViewPr>
    <p:cSldViewPr snapToGrid="0">
      <p:cViewPr varScale="1">
        <p:scale>
          <a:sx n="121" d="100"/>
          <a:sy n="121" d="100"/>
        </p:scale>
        <p:origin x="7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DC018-4FCF-D61D-D9A7-5E2DA42FA2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1F752F-210C-24DB-BE2D-4D472A51F6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6CB5DF-C185-51BE-15B5-6665C7814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FDE87-C05B-8B45-97FC-62DAB676E24A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5487F-E1FB-06D7-81D3-6AFB73F52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35558-E860-2EC3-9A45-7602C5708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4B4D5-CB18-5E4A-B4F0-A7E61BF93A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307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87928-76DC-90D4-BD85-04F7FBD0C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EE8C8-171B-95A2-2E69-6526DA94B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50D2A1-23B1-6339-5974-1FB5CBB59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FDE87-C05B-8B45-97FC-62DAB676E24A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E267EF-6143-C20A-70B2-C083EDC4C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57C085-DD8B-E6DE-0403-545D05CFD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4B4D5-CB18-5E4A-B4F0-A7E61BF93A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329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C3587-2527-69AB-21D4-E6090B232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D69E0A-6A71-7343-0443-77505C591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34615D-E840-ACFD-A1B7-03AAC3D4A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FDE87-C05B-8B45-97FC-62DAB676E24A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509F05-FEBA-459C-C0B1-285AA3014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B9BCD0-AFAA-F220-FA97-BCBDE552C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4B4D5-CB18-5E4A-B4F0-A7E61BF93A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401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8826B-69E2-BB63-E5B2-8355483C0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30246-7D74-BBB6-8692-A83E8B661F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97FC15-795B-459A-8AC6-368DC27BF1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A03374-2DEF-8B32-B356-389EA1D8D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FDE87-C05B-8B45-97FC-62DAB676E24A}" type="datetimeFigureOut">
              <a:rPr lang="en-US" smtClean="0"/>
              <a:t>2/1/26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F796D9-5E2C-CA3D-10C2-95CC892FC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63BF53-E0C4-0729-EE5E-D71D077D6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4B4D5-CB18-5E4A-B4F0-A7E61BF93A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526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3F6EB-A9AA-86DF-8A21-A21DC13BD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EDBACF-0C44-43A8-5712-471299A253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FCD222-EE5B-16D6-D23A-2A5D7D304B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F07E15-EA20-9414-E996-606957844F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27CF28-C710-F450-75B9-0FFF5FE8D5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EF4EAB-2BED-22FE-EB11-70B097B5F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FDE87-C05B-8B45-97FC-62DAB676E24A}" type="datetimeFigureOut">
              <a:rPr lang="en-US" smtClean="0"/>
              <a:t>2/1/26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738F5F-599B-CFBE-3808-6E7E3D02A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1F0939-4BB7-221C-5D6A-591376A45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4B4D5-CB18-5E4A-B4F0-A7E61BF93A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753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F2D1E-AA27-25E6-9099-7A07ACFFE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9655D6-36F8-C282-CC9B-4C15B589C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FDE87-C05B-8B45-97FC-62DAB676E24A}" type="datetimeFigureOut">
              <a:rPr lang="en-US" smtClean="0"/>
              <a:t>2/1/26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968F9E-9277-5625-03A0-4E23E2858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781FA3-8AAB-AF18-BF57-F886582B8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4B4D5-CB18-5E4A-B4F0-A7E61BF93A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804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4934E-A5E3-0D64-BB74-46CE0EFC5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FDE87-C05B-8B45-97FC-62DAB676E24A}" type="datetimeFigureOut">
              <a:rPr lang="en-US" smtClean="0"/>
              <a:t>2/1/26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2792FE-F124-8D1C-0921-1E51094DE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8A9D6B-E051-131B-9B4B-0D8AC605D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4B4D5-CB18-5E4A-B4F0-A7E61BF93A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726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C5937-BA05-5BB9-8659-9A3E2423D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94972-DB31-878F-158E-4A6E6EDA4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8582FA-DF6C-A854-6A32-4375BB821F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D54979-2E08-F4E8-9168-C4F63443E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FDE87-C05B-8B45-97FC-62DAB676E24A}" type="datetimeFigureOut">
              <a:rPr lang="en-US" smtClean="0"/>
              <a:t>2/1/26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F3D652-0783-4A8D-0ED3-B877F95B7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1532D6-03E0-D9C3-A7BA-2A286EB92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4B4D5-CB18-5E4A-B4F0-A7E61BF93A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600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386CE-C5B1-E0E2-8407-AB8B011D3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4A3EC6-BFDE-9B9B-5381-CEE7ECF00C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41DF32-AABE-C90F-3F9D-D9E63EE707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1699EB-7CAE-11D5-D9E9-C3EB8AD44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FDE87-C05B-8B45-97FC-62DAB676E24A}" type="datetimeFigureOut">
              <a:rPr lang="en-US" smtClean="0"/>
              <a:t>2/1/26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9B3B2B-A670-896F-BD42-150511F5A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B6E754-1E03-3F0C-89E3-2C9448FCC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4B4D5-CB18-5E4A-B4F0-A7E61BF93A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367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89362-4C91-0A4D-57B5-378EE5699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0C12A7-FE46-843F-1919-004DD0849F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8C0373-2D0C-3991-6D22-F6C57E82F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FDE87-C05B-8B45-97FC-62DAB676E24A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9AB596-4607-FAFC-9DF5-8ED9706A4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DB910-41AF-0A34-3EA8-774091783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4B4D5-CB18-5E4A-B4F0-A7E61BF93A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208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C2C653-FB11-5066-A3C0-B94037004F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24E940-5C68-BE33-4758-471BA1F85A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887AA-5867-0499-A519-250D3925E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FDE87-C05B-8B45-97FC-62DAB676E24A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4B2E2B-068F-0B52-488F-52468FEC5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B372A4-EF51-1A10-E182-0F38935F1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4B4D5-CB18-5E4A-B4F0-A7E61BF93A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063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4A2A06-B4AB-8E97-D549-BC68484DF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B74410-C50E-CB0C-8B28-EA3C0A51FA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CEC82-6D57-CF01-E0F8-34E3E6A4D7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6FDE87-C05B-8B45-97FC-62DAB676E24A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44ED-AA4C-57E7-407D-C5071EB88A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9E4AF-5D73-A4FF-878B-6193FA54C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D4B4D5-CB18-5E4A-B4F0-A7E61BF93A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95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F7C100-C945-C4D9-D4C0-4F8DE14338AC}"/>
              </a:ext>
            </a:extLst>
          </p:cNvPr>
          <p:cNvSpPr/>
          <p:nvPr/>
        </p:nvSpPr>
        <p:spPr>
          <a:xfrm>
            <a:off x="3301340" y="463138"/>
            <a:ext cx="8478982" cy="60089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195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749555C-0B49-4FFF-439B-5A7DDB265F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7994"/>
            <a:ext cx="12216416" cy="251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050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D0345DE-8987-B4A6-EDA7-C96A653ECA46}"/>
              </a:ext>
            </a:extLst>
          </p:cNvPr>
          <p:cNvSpPr/>
          <p:nvPr/>
        </p:nvSpPr>
        <p:spPr>
          <a:xfrm>
            <a:off x="3750067" y="2925567"/>
            <a:ext cx="3924728" cy="2076181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dirty="0">
              <a:latin typeface="Copperplate Gothic Bold" panose="020E0705020206020404" pitchFamily="34" charset="77"/>
              <a:cs typeface="ADLaM Display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D1B57C-5BE0-A9B3-E0B7-FA7ABABB7B4E}"/>
              </a:ext>
            </a:extLst>
          </p:cNvPr>
          <p:cNvSpPr/>
          <p:nvPr/>
        </p:nvSpPr>
        <p:spPr>
          <a:xfrm>
            <a:off x="3750067" y="226031"/>
            <a:ext cx="3924728" cy="770562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latin typeface="Copperplate Gothic Bold" panose="020E0705020206020404" pitchFamily="34" charset="77"/>
                <a:cs typeface="ADLaM Display" panose="020F0502020204030204" pitchFamily="34" charset="0"/>
              </a:rPr>
              <a:t>Plan 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3A80CE-4EC5-1C93-280A-B3C1222A8FDC}"/>
              </a:ext>
            </a:extLst>
          </p:cNvPr>
          <p:cNvSpPr/>
          <p:nvPr/>
        </p:nvSpPr>
        <p:spPr>
          <a:xfrm>
            <a:off x="3750067" y="996593"/>
            <a:ext cx="3924728" cy="1158412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0" dirty="0">
                <a:latin typeface="Copperplate Gothic Bold" panose="020E0705020206020404" pitchFamily="34" charset="77"/>
                <a:cs typeface="ADLaM Display" panose="020F0502020204030204" pitchFamily="34" charset="0"/>
              </a:rPr>
              <a:t>ONE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D70472-E720-9059-832C-6123E436C8BE}"/>
              </a:ext>
            </a:extLst>
          </p:cNvPr>
          <p:cNvSpPr/>
          <p:nvPr/>
        </p:nvSpPr>
        <p:spPr>
          <a:xfrm>
            <a:off x="3750067" y="2155005"/>
            <a:ext cx="3924728" cy="770562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latin typeface="Copperplate Gothic Bold" panose="020E0705020206020404" pitchFamily="34" charset="77"/>
                <a:cs typeface="ADLaM Display" panose="020F0502020204030204" pitchFamily="34" charset="0"/>
              </a:rPr>
              <a:t>Page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9BDE978-13CD-7E0E-1911-C518AA30FD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0067" y="2925567"/>
            <a:ext cx="3924728" cy="2076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279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591D8E0-EC90-B384-40B2-6879761E15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813"/>
          <a:stretch>
            <a:fillRect/>
          </a:stretch>
        </p:blipFill>
        <p:spPr>
          <a:xfrm>
            <a:off x="2832014" y="1900879"/>
            <a:ext cx="6713863" cy="4036180"/>
          </a:xfrm>
          <a:prstGeom prst="rect">
            <a:avLst/>
          </a:prstGeom>
        </p:spPr>
      </p:pic>
      <p:sp>
        <p:nvSpPr>
          <p:cNvPr id="9" name="Right Arrow 8">
            <a:extLst>
              <a:ext uri="{FF2B5EF4-FFF2-40B4-BE49-F238E27FC236}">
                <a16:creationId xmlns:a16="http://schemas.microsoft.com/office/drawing/2014/main" id="{3D7F34F4-41B9-170E-EF44-997DBE854441}"/>
              </a:ext>
            </a:extLst>
          </p:cNvPr>
          <p:cNvSpPr/>
          <p:nvPr/>
        </p:nvSpPr>
        <p:spPr>
          <a:xfrm rot="5400000">
            <a:off x="5121590" y="1853895"/>
            <a:ext cx="1697897" cy="123054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71233453-AD57-ED66-BC23-ED06EB7E818C}"/>
              </a:ext>
            </a:extLst>
          </p:cNvPr>
          <p:cNvSpPr/>
          <p:nvPr/>
        </p:nvSpPr>
        <p:spPr>
          <a:xfrm rot="2407147">
            <a:off x="1950792" y="1909425"/>
            <a:ext cx="832449" cy="123054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19AD491-27D6-B0DF-DA5D-E11A018D533D}"/>
              </a:ext>
            </a:extLst>
          </p:cNvPr>
          <p:cNvSpPr/>
          <p:nvPr/>
        </p:nvSpPr>
        <p:spPr>
          <a:xfrm>
            <a:off x="417942" y="1046053"/>
            <a:ext cx="1784734" cy="1503802"/>
          </a:xfrm>
          <a:prstGeom prst="roundRect">
            <a:avLst>
              <a:gd name="adj" fmla="val 4314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700" b="1" u="sng" dirty="0">
                <a:solidFill>
                  <a:srgbClr val="264653"/>
                </a:solidFill>
              </a:rPr>
              <a:t>Manage </a:t>
            </a:r>
            <a:r>
              <a:rPr lang="en-US" sz="700" b="1" u="sng" dirty="0" err="1">
                <a:solidFill>
                  <a:srgbClr val="264653"/>
                </a:solidFill>
              </a:rPr>
              <a:t>Swimlanes</a:t>
            </a:r>
            <a:endParaRPr lang="en-US" sz="700" b="1" u="sng" dirty="0">
              <a:solidFill>
                <a:srgbClr val="264653"/>
              </a:solidFill>
            </a:endParaRPr>
          </a:p>
          <a:p>
            <a:endParaRPr lang="en-US" sz="700" dirty="0">
              <a:solidFill>
                <a:srgbClr val="264653"/>
              </a:solidFill>
            </a:endParaRPr>
          </a:p>
          <a:p>
            <a:r>
              <a:rPr lang="en-US" sz="700" dirty="0">
                <a:solidFill>
                  <a:srgbClr val="264653"/>
                </a:solidFill>
              </a:rPr>
              <a:t>Allows you to: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264653"/>
                </a:solidFill>
              </a:rPr>
              <a:t>Select the default </a:t>
            </a:r>
            <a:r>
              <a:rPr lang="en-US" sz="700" dirty="0" err="1">
                <a:solidFill>
                  <a:srgbClr val="264653"/>
                </a:solidFill>
              </a:rPr>
              <a:t>swimlane</a:t>
            </a:r>
            <a:r>
              <a:rPr lang="en-US" sz="700" dirty="0">
                <a:solidFill>
                  <a:srgbClr val="264653"/>
                </a:solidFill>
              </a:rPr>
              <a:t> which new activities will be added to.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264653"/>
                </a:solidFill>
              </a:rPr>
              <a:t>Change the order of </a:t>
            </a:r>
            <a:r>
              <a:rPr lang="en-US" sz="700" dirty="0" err="1">
                <a:solidFill>
                  <a:srgbClr val="264653"/>
                </a:solidFill>
              </a:rPr>
              <a:t>swimlanes</a:t>
            </a:r>
            <a:endParaRPr lang="en-US" sz="700" dirty="0">
              <a:solidFill>
                <a:srgbClr val="264653"/>
              </a:solidFill>
            </a:endParaRP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264653"/>
                </a:solidFill>
              </a:rPr>
              <a:t>Compress the </a:t>
            </a:r>
            <a:r>
              <a:rPr lang="en-US" sz="700" dirty="0" err="1">
                <a:solidFill>
                  <a:srgbClr val="264653"/>
                </a:solidFill>
              </a:rPr>
              <a:t>swimlane</a:t>
            </a:r>
            <a:r>
              <a:rPr lang="en-US" sz="700" dirty="0">
                <a:solidFill>
                  <a:srgbClr val="264653"/>
                </a:solidFill>
              </a:rPr>
              <a:t> by removing blank tracks.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264653"/>
                </a:solidFill>
              </a:rPr>
              <a:t>Sort the activities in a </a:t>
            </a:r>
            <a:r>
              <a:rPr lang="en-US" sz="700" dirty="0" err="1">
                <a:solidFill>
                  <a:srgbClr val="264653"/>
                </a:solidFill>
              </a:rPr>
              <a:t>swimlane</a:t>
            </a:r>
            <a:r>
              <a:rPr lang="en-US" sz="700" dirty="0">
                <a:solidFill>
                  <a:srgbClr val="264653"/>
                </a:solidFill>
              </a:rPr>
              <a:t> by start date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264653"/>
                </a:solidFill>
              </a:rPr>
              <a:t>Navigate to the manage </a:t>
            </a:r>
            <a:r>
              <a:rPr lang="en-US" sz="700" dirty="0" err="1">
                <a:solidFill>
                  <a:srgbClr val="264653"/>
                </a:solidFill>
              </a:rPr>
              <a:t>swimlanes</a:t>
            </a:r>
            <a:r>
              <a:rPr lang="en-US" sz="700" dirty="0">
                <a:solidFill>
                  <a:srgbClr val="264653"/>
                </a:solidFill>
              </a:rPr>
              <a:t> screen to edit properties or add new </a:t>
            </a:r>
            <a:r>
              <a:rPr lang="en-US" sz="700" dirty="0" err="1">
                <a:solidFill>
                  <a:srgbClr val="264653"/>
                </a:solidFill>
              </a:rPr>
              <a:t>swimlanes</a:t>
            </a:r>
            <a:r>
              <a:rPr lang="en-US" sz="700" dirty="0">
                <a:solidFill>
                  <a:srgbClr val="264653"/>
                </a:solidFill>
              </a:rPr>
              <a:t>. </a:t>
            </a:r>
          </a:p>
          <a:p>
            <a:endParaRPr lang="en-US" sz="700" dirty="0">
              <a:solidFill>
                <a:srgbClr val="264653"/>
              </a:solidFill>
            </a:endParaRPr>
          </a:p>
          <a:p>
            <a:endParaRPr lang="en-US" sz="700" dirty="0">
              <a:solidFill>
                <a:srgbClr val="264653"/>
              </a:solidFill>
            </a:endParaRPr>
          </a:p>
        </p:txBody>
      </p:sp>
      <p:sp>
        <p:nvSpPr>
          <p:cNvPr id="2" name="Right Arrow 1">
            <a:extLst>
              <a:ext uri="{FF2B5EF4-FFF2-40B4-BE49-F238E27FC236}">
                <a16:creationId xmlns:a16="http://schemas.microsoft.com/office/drawing/2014/main" id="{6CC7305F-F40B-73AF-F5F4-A9C494E734F2}"/>
              </a:ext>
            </a:extLst>
          </p:cNvPr>
          <p:cNvSpPr/>
          <p:nvPr/>
        </p:nvSpPr>
        <p:spPr>
          <a:xfrm>
            <a:off x="1886728" y="3971743"/>
            <a:ext cx="832449" cy="123054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84E7F5D-0BC3-E38F-4D9C-F26A252ECC36}"/>
              </a:ext>
            </a:extLst>
          </p:cNvPr>
          <p:cNvSpPr/>
          <p:nvPr/>
        </p:nvSpPr>
        <p:spPr>
          <a:xfrm>
            <a:off x="417942" y="3225800"/>
            <a:ext cx="1784734" cy="1984587"/>
          </a:xfrm>
          <a:prstGeom prst="roundRect">
            <a:avLst>
              <a:gd name="adj" fmla="val 4314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300"/>
              </a:spcAft>
            </a:pPr>
            <a:r>
              <a:rPr lang="en-US" sz="700" b="1" u="sng" dirty="0">
                <a:solidFill>
                  <a:srgbClr val="264653"/>
                </a:solidFill>
              </a:rPr>
              <a:t>Add/Remove Activities</a:t>
            </a:r>
            <a:endParaRPr lang="en-US" sz="700" dirty="0">
              <a:solidFill>
                <a:srgbClr val="264653"/>
              </a:solidFill>
            </a:endParaRPr>
          </a:p>
          <a:p>
            <a:pPr>
              <a:spcAft>
                <a:spcPts val="300"/>
              </a:spcAft>
            </a:pPr>
            <a:r>
              <a:rPr lang="en-US" sz="700" dirty="0">
                <a:solidFill>
                  <a:srgbClr val="264653"/>
                </a:solidFill>
              </a:rPr>
              <a:t>This panel shows the activities from your uploaded plan in a collapsed tree structure. </a:t>
            </a:r>
          </a:p>
          <a:p>
            <a:pPr>
              <a:spcAft>
                <a:spcPts val="300"/>
              </a:spcAft>
            </a:pPr>
            <a:r>
              <a:rPr lang="en-US" sz="700" dirty="0">
                <a:solidFill>
                  <a:srgbClr val="264653"/>
                </a:solidFill>
              </a:rPr>
              <a:t>You can expand or contract parent activities to show or hide child activities.</a:t>
            </a:r>
          </a:p>
          <a:p>
            <a:pPr>
              <a:spcAft>
                <a:spcPts val="300"/>
              </a:spcAft>
            </a:pPr>
            <a:r>
              <a:rPr lang="en-US" sz="700" dirty="0">
                <a:solidFill>
                  <a:srgbClr val="264653"/>
                </a:solidFill>
              </a:rPr>
              <a:t>When you click on an activity that activity is highlighted.  If you click on the activity again it’s inclusion in the visual is toggled.</a:t>
            </a:r>
          </a:p>
          <a:p>
            <a:pPr>
              <a:spcAft>
                <a:spcPts val="300"/>
              </a:spcAft>
            </a:pPr>
            <a:r>
              <a:rPr lang="en-US" sz="700" dirty="0">
                <a:solidFill>
                  <a:srgbClr val="264653"/>
                </a:solidFill>
              </a:rPr>
              <a:t>The highlighted activity is also highlighted in the visual if it is currently toggle in.</a:t>
            </a:r>
          </a:p>
          <a:p>
            <a:pPr>
              <a:spcAft>
                <a:spcPts val="300"/>
              </a:spcAft>
            </a:pPr>
            <a:r>
              <a:rPr lang="en-US" sz="700" dirty="0">
                <a:solidFill>
                  <a:srgbClr val="264653"/>
                </a:solidFill>
              </a:rPr>
              <a:t>You can add all next level sub-activities into the visual by clicking the icon at the top of this panel.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0478F54-626A-FEF6-993A-DDC2F0330F54}"/>
              </a:ext>
            </a:extLst>
          </p:cNvPr>
          <p:cNvSpPr/>
          <p:nvPr/>
        </p:nvSpPr>
        <p:spPr>
          <a:xfrm>
            <a:off x="5296579" y="111797"/>
            <a:ext cx="1784734" cy="1668017"/>
          </a:xfrm>
          <a:prstGeom prst="roundRect">
            <a:avLst>
              <a:gd name="adj" fmla="val 4314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300"/>
              </a:spcAft>
            </a:pPr>
            <a:r>
              <a:rPr lang="en-US" sz="700" b="1" u="sng" dirty="0">
                <a:solidFill>
                  <a:srgbClr val="264653"/>
                </a:solidFill>
              </a:rPr>
              <a:t>Activity Panel</a:t>
            </a:r>
            <a:endParaRPr lang="en-US" sz="700" dirty="0">
              <a:solidFill>
                <a:srgbClr val="264653"/>
              </a:solidFill>
            </a:endParaRPr>
          </a:p>
          <a:p>
            <a:pPr>
              <a:spcAft>
                <a:spcPts val="300"/>
              </a:spcAft>
            </a:pPr>
            <a:r>
              <a:rPr lang="en-US" sz="700" dirty="0">
                <a:solidFill>
                  <a:srgbClr val="264653"/>
                </a:solidFill>
              </a:rPr>
              <a:t>This panel shows the attributes of the current selected activity, such as the Name, Start Date, End Date, Shape, Style etc.</a:t>
            </a:r>
          </a:p>
          <a:p>
            <a:pPr>
              <a:spcAft>
                <a:spcPts val="300"/>
              </a:spcAft>
            </a:pPr>
            <a:r>
              <a:rPr lang="en-US" sz="700" dirty="0">
                <a:solidFill>
                  <a:srgbClr val="264653"/>
                </a:solidFill>
              </a:rPr>
              <a:t>The attributes are grouped under Plan Attributes, and Visual Attributes.</a:t>
            </a:r>
          </a:p>
          <a:p>
            <a:pPr>
              <a:spcAft>
                <a:spcPts val="300"/>
              </a:spcAft>
            </a:pPr>
            <a:r>
              <a:rPr lang="en-US" sz="700" dirty="0">
                <a:solidFill>
                  <a:srgbClr val="264653"/>
                </a:solidFill>
              </a:rPr>
              <a:t>Visual attributes, such as Style, are only populated for activities which are in the visual.</a:t>
            </a:r>
          </a:p>
          <a:p>
            <a:pPr>
              <a:spcAft>
                <a:spcPts val="300"/>
              </a:spcAft>
            </a:pPr>
            <a:r>
              <a:rPr lang="en-US" sz="700" dirty="0">
                <a:solidFill>
                  <a:srgbClr val="264653"/>
                </a:solidFill>
              </a:rPr>
              <a:t>When the visual properties are shown, they can be edited (such as shape to be used for the activity, style, etc.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4C0CE070-FD24-9822-BE20-7E0E89EB700D}"/>
              </a:ext>
            </a:extLst>
          </p:cNvPr>
          <p:cNvSpPr/>
          <p:nvPr/>
        </p:nvSpPr>
        <p:spPr>
          <a:xfrm rot="10800000">
            <a:off x="9487324" y="3073631"/>
            <a:ext cx="845974" cy="123054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55DC849-34D3-53E5-BBEB-BCF191C29AD1}"/>
              </a:ext>
            </a:extLst>
          </p:cNvPr>
          <p:cNvSpPr/>
          <p:nvPr/>
        </p:nvSpPr>
        <p:spPr>
          <a:xfrm>
            <a:off x="10117067" y="2231568"/>
            <a:ext cx="1784734" cy="1065605"/>
          </a:xfrm>
          <a:prstGeom prst="roundRect">
            <a:avLst>
              <a:gd name="adj" fmla="val 4314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300"/>
              </a:spcAft>
            </a:pPr>
            <a:r>
              <a:rPr lang="en-US" sz="700" b="1" u="sng" dirty="0">
                <a:solidFill>
                  <a:srgbClr val="264653"/>
                </a:solidFill>
              </a:rPr>
              <a:t>Timeline Panel</a:t>
            </a:r>
            <a:endParaRPr lang="en-US" sz="700" dirty="0">
              <a:solidFill>
                <a:srgbClr val="264653"/>
              </a:solidFill>
            </a:endParaRPr>
          </a:p>
          <a:p>
            <a:pPr>
              <a:spcAft>
                <a:spcPts val="300"/>
              </a:spcAft>
            </a:pPr>
            <a:r>
              <a:rPr lang="en-US" sz="700" dirty="0">
                <a:solidFill>
                  <a:srgbClr val="264653"/>
                </a:solidFill>
              </a:rPr>
              <a:t>This panel lists all the available timelines (e.g. months, quarters) and allows you to toggle which are included in the visual, and also to change the order of them.</a:t>
            </a:r>
          </a:p>
          <a:p>
            <a:pPr>
              <a:spcAft>
                <a:spcPts val="300"/>
              </a:spcAft>
            </a:pPr>
            <a:r>
              <a:rPr lang="en-US" sz="700" dirty="0">
                <a:solidFill>
                  <a:srgbClr val="264653"/>
                </a:solidFill>
              </a:rPr>
              <a:t>You can also change the style to be used for Odd and Even numbered labels within each timeline.</a:t>
            </a: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62572A5D-67A7-017B-6052-DD68A2DCBDE0}"/>
              </a:ext>
            </a:extLst>
          </p:cNvPr>
          <p:cNvSpPr/>
          <p:nvPr/>
        </p:nvSpPr>
        <p:spPr>
          <a:xfrm rot="10800000">
            <a:off x="9487324" y="4382291"/>
            <a:ext cx="845974" cy="123054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E10315B-74FA-0AB7-A769-A7423E2A8AB6}"/>
              </a:ext>
            </a:extLst>
          </p:cNvPr>
          <p:cNvSpPr/>
          <p:nvPr/>
        </p:nvSpPr>
        <p:spPr>
          <a:xfrm>
            <a:off x="10117067" y="3937121"/>
            <a:ext cx="1784734" cy="787279"/>
          </a:xfrm>
          <a:prstGeom prst="roundRect">
            <a:avLst>
              <a:gd name="adj" fmla="val 4314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300"/>
              </a:spcAft>
            </a:pPr>
            <a:r>
              <a:rPr lang="en-US" sz="700" b="1" u="sng" dirty="0">
                <a:solidFill>
                  <a:srgbClr val="264653"/>
                </a:solidFill>
              </a:rPr>
              <a:t>The Visual</a:t>
            </a:r>
            <a:endParaRPr lang="en-US" sz="700" dirty="0">
              <a:solidFill>
                <a:srgbClr val="264653"/>
              </a:solidFill>
            </a:endParaRPr>
          </a:p>
          <a:p>
            <a:pPr>
              <a:spcAft>
                <a:spcPts val="300"/>
              </a:spcAft>
            </a:pPr>
            <a:r>
              <a:rPr lang="en-US" sz="700" dirty="0">
                <a:solidFill>
                  <a:srgbClr val="264653"/>
                </a:solidFill>
              </a:rPr>
              <a:t>This panel shows the visual that you are creating.  From here you can download the visual as a .PNG file, navigate to the Settings for this visual or go back to the Manage Visuals page.</a:t>
            </a:r>
          </a:p>
        </p:txBody>
      </p:sp>
    </p:spTree>
    <p:extLst>
      <p:ext uri="{BB962C8B-B14F-4D97-AF65-F5344CB8AC3E}">
        <p14:creationId xmlns:p14="http://schemas.microsoft.com/office/powerpoint/2010/main" val="4174550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3CBCD-9870-1048-78A1-8222A5F25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2A472-B463-74C1-0E02-9368BF9C0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592356-1DCF-6690-1B3F-0DB6DB8319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365028" y="-6959599"/>
            <a:ext cx="35269012" cy="1790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6921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6168</TotalTime>
  <Words>338</Words>
  <Application>Microsoft Macintosh PowerPoint</Application>
  <PresentationFormat>Widescreen</PresentationFormat>
  <Paragraphs>27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Copperplate Gothic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Gaylard</dc:creator>
  <cp:lastModifiedBy>Thomas Gaylard</cp:lastModifiedBy>
  <cp:revision>9</cp:revision>
  <dcterms:created xsi:type="dcterms:W3CDTF">2025-06-01T11:41:25Z</dcterms:created>
  <dcterms:modified xsi:type="dcterms:W3CDTF">2026-02-01T17:06:24Z</dcterms:modified>
</cp:coreProperties>
</file>